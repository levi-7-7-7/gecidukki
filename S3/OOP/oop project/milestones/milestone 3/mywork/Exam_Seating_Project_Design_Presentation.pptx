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Java Swing + JDBC + MySQL desktop application that generates clash-free exam seating plans. Team 8, S3, Java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team members. Antony and Lijo are at 5 stars, unchanged since Milestone 2. Milind's profile link and star count must be added and verified on the review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design changes DC-01 to DC-05 against the Milestone 2 baseline. All are currently pending faculty approval; unapproved additions are listed as future enhancements.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from the design document. Arrows show permitted dependencies only: ui to service/dao/model, service to dao/model, dao to JDBC and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UC-05 (generate): admin picks exam, shuffle and rooms; system loads students, shuffles, assigns room/row/column and saves in one transaction. Alternate flows: no students, capacity too low (warning), plan exists (confirm), DB error (rollback). UC-07 (search): enter register number, validate, query seating, show room/row/seat;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Encapsulation via private fields and getters/setters; inheritance via abstract AppFrame; polymorphism in ShuffleService.apply() choosing ordering by option; composition: ExamService owns SeatingGenerator and RoomAllocationService, SeatingGenerator owns ShuffleService.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 ER diagram generated from schema.sql. JDBC design: PreparedStatement everywhere, try-with-resources, and a transaction in SeatingDAO.replaceAll().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UI-01 Login, UI-02 Dashboard, UI-03 Master data (students, departments, semesters, rooms, teachers, users), UI-04 Exam, UI-05 Generate Seating, UI-06 Seating Result, UI-07 Student Seat Search, UI-08 Attendance/Invigilator/Reports.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UC-05 path: GenerateSeatingFrame to ExamService.generate() to SeatingGenerator/ShuffleService to SeatingDAO.replaceAll() to MySQL. Related FR-04, FR-05, FR-06.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UC-07 path: StudentSeatSearchFrame, validation, SeatingDAO.findByStudent(), JDBC/MySQL. Alternate flows: empty input shows a validation message; no seat found shows a not-found message; database error shows a message dialog.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limitation DC-05: passwords are stored as plain text; SHA-256 hashing is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FR maps to a use case, class, screen, table and planned test case. Team Lead: Antony Zavior K. Date: 30/10/2026.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• Project Design  |  Team 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• Project Design  |  Team 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D6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5B100"/>
          </a:solidFill>
          <a:ln w="12700">
            <a:solidFill>
              <a:srgbClr val="F5B1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•  3 MARKS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DESKTOP APPLICATION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UI  •  JDBC  •  MySQL</a:t>
            </a:r>
            <a:endParaRPr lang="en-US" sz="1800" dirty="0"/>
          </a:p>
        </p:txBody>
      </p:sp>
      <p:sp>
        <p:nvSpPr>
          <p:cNvPr id="7" name="project-card"/>
          <p:cNvSpPr/>
          <p:nvPr/>
        </p:nvSpPr>
        <p:spPr>
          <a:xfrm>
            <a:off x="457200" y="306324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15324F"/>
          </a:solidFill>
          <a:ln w="9525">
            <a:solidFill>
              <a:srgbClr val="2A4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01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Seat Arrangement System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(Smart Exam Seating Arrangement System)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416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No.: 8   |   Class/Semester: S3   |   Course: Java Programming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51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Date: 30 / 10 / 2026</a:t>
            </a:r>
            <a:endParaRPr lang="en-US" sz="1100" dirty="0"/>
          </a:p>
        </p:txBody>
      </p:sp>
      <p:sp>
        <p:nvSpPr>
          <p:cNvPr id="13" name="connect-panel"/>
          <p:cNvSpPr/>
          <p:nvPr/>
        </p:nvSpPr>
        <p:spPr>
          <a:xfrm>
            <a:off x="5669280" y="411480"/>
            <a:ext cx="3017520" cy="4069080"/>
          </a:xfrm>
          <a:prstGeom prst="roundRect">
            <a:avLst>
              <a:gd name="adj" fmla="val 2424"/>
            </a:avLst>
          </a:prstGeom>
          <a:solidFill>
            <a:srgbClr val="15324F"/>
          </a:solidFill>
          <a:ln w="9525">
            <a:solidFill>
              <a:srgbClr val="2A4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594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MUST CONNECT</a:t>
            </a:r>
            <a:endParaRPr lang="en-US" sz="900" dirty="0"/>
          </a:p>
        </p:txBody>
      </p:sp>
      <p:sp>
        <p:nvSpPr>
          <p:cNvPr id="15" name="connect-1"/>
          <p:cNvSpPr/>
          <p:nvPr/>
        </p:nvSpPr>
        <p:spPr>
          <a:xfrm>
            <a:off x="5897880" y="91440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914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914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8" name="connect-2"/>
          <p:cNvSpPr/>
          <p:nvPr/>
        </p:nvSpPr>
        <p:spPr>
          <a:xfrm>
            <a:off x="5897880" y="162763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6276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6276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1" name="connect-3"/>
          <p:cNvSpPr/>
          <p:nvPr/>
        </p:nvSpPr>
        <p:spPr>
          <a:xfrm>
            <a:off x="5897880" y="234086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34086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3408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+ Data</a:t>
            </a:r>
            <a:endParaRPr lang="en-US" sz="1400" dirty="0"/>
          </a:p>
        </p:txBody>
      </p:sp>
      <p:sp>
        <p:nvSpPr>
          <p:cNvPr id="24" name="connect-4"/>
          <p:cNvSpPr/>
          <p:nvPr/>
        </p:nvSpPr>
        <p:spPr>
          <a:xfrm>
            <a:off x="5897880" y="305409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0E9F98"/>
          </a:solidFill>
          <a:ln w="12700">
            <a:solidFill>
              <a:srgbClr val="0E9F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05409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054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+ Interactions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element traces back to an approved requirement (FR-01 to FR-08).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D6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HackerRank Java progress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Java stars compared with the stars visible on the current review date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17320"/>
                <a:gridCol w="640080"/>
                <a:gridCol w="822960"/>
                <a:gridCol w="2423160"/>
                <a:gridCol w="822960"/>
                <a:gridCol w="1097280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/ 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Java 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Java 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Antony Zavior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hackerrank.com/profile/haxey61790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Lijo P Thomas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hackerrank.com/profile/lijot707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Milind Krishnan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profile link / screenshot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rogress-1"/>
          <p:cNvSpPr/>
          <p:nvPr/>
        </p:nvSpPr>
        <p:spPr>
          <a:xfrm>
            <a:off x="457200" y="31089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3246120"/>
            <a:ext cx="201168" cy="201168"/>
          </a:xfrm>
          <a:prstGeom prst="ellipse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218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 Zavior 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5 stars (M2 → current). Leads seat allocation and exam modules.</a:t>
            </a:r>
            <a:endParaRPr lang="en-US" sz="1050" dirty="0"/>
          </a:p>
        </p:txBody>
      </p:sp>
      <p:sp>
        <p:nvSpPr>
          <p:cNvPr id="10" name="progress-2"/>
          <p:cNvSpPr/>
          <p:nvPr/>
        </p:nvSpPr>
        <p:spPr>
          <a:xfrm>
            <a:off x="3246120" y="31089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3246120"/>
            <a:ext cx="201168" cy="201168"/>
          </a:xfrm>
          <a:prstGeom prst="ellipse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3218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Lijo P Thomas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5 stars (M2 → current). Leads login, users and student modules.</a:t>
            </a:r>
            <a:endParaRPr lang="en-US" sz="1050" dirty="0"/>
          </a:p>
        </p:txBody>
      </p:sp>
      <p:sp>
        <p:nvSpPr>
          <p:cNvPr id="14" name="progress-3"/>
          <p:cNvSpPr/>
          <p:nvPr/>
        </p:nvSpPr>
        <p:spPr>
          <a:xfrm>
            <a:off x="6035040" y="31089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3246120"/>
            <a:ext cx="201168" cy="201168"/>
          </a:xfrm>
          <a:prstGeom prst="ellipse">
            <a:avLst/>
          </a:prstGeom>
          <a:solidFill>
            <a:srgbClr val="F5B100"/>
          </a:solidFill>
          <a:ln w="12700">
            <a:solidFill>
              <a:srgbClr val="F5B1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3218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Milind Krishnan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link and star level to be added and re-checked on the review date.</a:t>
            </a:r>
            <a:endParaRPr lang="en-US" sz="1050" dirty="0"/>
          </a:p>
        </p:txBody>
      </p:sp>
      <p:sp>
        <p:nvSpPr>
          <p:cNvPr id="18" name="required-note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4297680"/>
            <a:ext cx="868680" cy="228600"/>
          </a:xfrm>
          <a:prstGeom prst="roundRect">
            <a:avLst>
              <a:gd name="adj" fmla="val 48000"/>
            </a:avLst>
          </a:prstGeom>
          <a:solidFill>
            <a:srgbClr val="F5B100"/>
          </a:solidFill>
          <a:ln w="12700">
            <a:solidFill>
              <a:srgbClr val="F5B1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2976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41605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profile link or current screenshot for every member. This table continues in Code Review 1 and later.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DESIGN BASIS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scope and design changes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requirements baseline; every change recorded explicitly</a:t>
            </a:r>
            <a:endParaRPr lang="en-US" sz="1200" dirty="0"/>
          </a:p>
        </p:txBody>
      </p:sp>
      <p:sp>
        <p:nvSpPr>
          <p:cNvPr id="5" name="scope-card"/>
          <p:cNvSpPr/>
          <p:nvPr/>
        </p:nvSpPr>
        <p:spPr>
          <a:xfrm>
            <a:off x="457200" y="1325880"/>
            <a:ext cx="2743200" cy="3337560"/>
          </a:xfrm>
          <a:prstGeom prst="roundRect">
            <a:avLst>
              <a:gd name="adj" fmla="val 2667"/>
            </a:avLst>
          </a:prstGeom>
          <a:solidFill>
            <a:srgbClr val="0B2036"/>
          </a:solidFill>
          <a:ln w="12700">
            <a:solidFill>
              <a:srgbClr val="0B2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DESIGN SCOPE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coordinator generates clash-free seating plans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Login, Master data, Allocation, Search &amp; Reports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room charts, seat search, attendance sheets, printable reports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Java, Swing, JDBC, MySQL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5876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MVC design: Swing screens, services, DAOs with JDBC; no SQL in the UI.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338328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and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import not implemented; students entered on the Student screen. Moved to future enhancements.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faculty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chart is read-only; manual seat swap is future work. Regenerate with another shuffle instead.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faculty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use rows × columns (capacity = rows × columns); no seats-per-bench field.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faculty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Same-branch separation via Department Mixing (round-robin) plus eight other shuffle options.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faculty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 stored as plain text for now; hashing is a future enhancement.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faculty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ule-card"/>
          <p:cNvSpPr/>
          <p:nvPr/>
        </p:nvSpPr>
        <p:spPr>
          <a:xfrm>
            <a:off x="3383280" y="41148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3008" y="4270248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4EAFB"/>
          </a:solidFill>
          <a:ln w="12700">
            <a:solidFill>
              <a:srgbClr val="E4EA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93008" y="42702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4114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requirement changes, update the Requirements Document, Design Document and PPT together.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desktop application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event handling, application logic, domain behaviour and JDBC persistence kept separate</a:t>
            </a:r>
            <a:endParaRPr lang="en-US" sz="1200" dirty="0"/>
          </a:p>
        </p:txBody>
      </p:sp>
      <p:pic>
        <p:nvPicPr>
          <p:cNvPr id="5" name="Image 0" descr="/home/claude/work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029200" cy="198059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64992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9144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classes (package)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ui: LoginFrame, DashboardFrame, StudentFrame, GenerateSeatingFrame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Service, DAO,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service: ExamService, SeatingGenerator, ShuffleService, PrintService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DAO,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model: Student, Room, Exam, Seating, Teacher,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dao: StudentDAO, RoomDAO, ExamDAO, SeatingDAO, UserDAO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JDBC, MySQL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rules-card"/>
          <p:cNvSpPr/>
          <p:nvPr/>
        </p:nvSpPr>
        <p:spPr>
          <a:xfrm>
            <a:off x="5715000" y="128016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0B2036"/>
          </a:solidFill>
          <a:ln w="12700">
            <a:solidFill>
              <a:srgbClr val="0B203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9788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RULES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897880" y="169164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classes contain no SQL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classes never control Swing components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coordinates use cases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for all parameterised SQL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protect multi-step updates (seating save)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closes connections and result sets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USE CASES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system behaviour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functional requirement (FR-01 to FR-08) appears in at least one use case</a:t>
            </a:r>
            <a:endParaRPr lang="en-US" sz="1200" dirty="0"/>
          </a:p>
        </p:txBody>
      </p:sp>
      <p:pic>
        <p:nvPicPr>
          <p:cNvPr id="5" name="Image 0" descr="/home/claude/work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834640" cy="301203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28016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2057400"/>
                <a:gridCol w="594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UC-01 Log 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Authenticate, open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UC-02 Manage students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update, delete,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UC-03 Manage rooms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(rows × columns),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UC-04 Create exam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Exam, departments, invigilators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UC-05 Generate seating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Shuffle, assign room/row/seat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FR-04–06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UC-06 View room chart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Teacher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seating chart per room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UC-07 Search seat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Student, 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seat by register 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UC-08 Attendance, 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Teacher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sheets and 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check-card"/>
          <p:cNvSpPr/>
          <p:nvPr/>
        </p:nvSpPr>
        <p:spPr>
          <a:xfrm>
            <a:off x="3474720" y="406908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66160" y="40690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Exam coordinator (Admin)  •  Invigilator / Teacher  •  Student / help desk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specifications: UC-05 Generate seating plan and UC-07 Search seat.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OBJECT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responsibilities and packages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object-oriented decomposition and separation of concerns</a:t>
            </a:r>
            <a:endParaRPr lang="en-US" sz="1200" dirty="0"/>
          </a:p>
        </p:txBody>
      </p:sp>
      <p:pic>
        <p:nvPicPr>
          <p:cNvPr id="5" name="Image 0" descr="/home/claude/work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200400" cy="3366821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280160"/>
          <a:ext cx="48463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2240280"/>
                <a:gridCol w="6400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AppFrame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(abstract)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screen: current user, error()/confirm()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GenerateSeatingFrame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exam, shuffle, rooms; starts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 student/room selection and saving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SeatingGenerator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shuffled students to room, row, 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shuffle option incl. Department Mixing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SeatingDAO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save; queries by exam/room/student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FR-05–07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Student, Room, Exam, Seating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data classes, private fields, getters/setters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FR-02–07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ckage-card"/>
          <p:cNvSpPr/>
          <p:nvPr/>
        </p:nvSpPr>
        <p:spPr>
          <a:xfrm>
            <a:off x="3840480" y="402336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0B2036"/>
          </a:solidFill>
          <a:ln w="12700">
            <a:solidFill>
              <a:srgbClr val="0B203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977640" y="4069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PLAN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977640" y="4251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com.smartseating.ui  •  service  •  model  •  dao  •  util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977640" y="44622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screens extend AppFrame. Composition: ExamService owns DAOs and generators.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DATABASE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 and constraints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 support FR-01 to FR-08 without duplication</a:t>
            </a:r>
            <a:endParaRPr lang="en-US" sz="1200" dirty="0"/>
          </a:p>
        </p:txBody>
      </p:sp>
      <p:pic>
        <p:nvPicPr>
          <p:cNvPr id="5" name="Image 0" descr="/home/claude/work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657600" cy="3165653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280160"/>
          <a:ext cx="4389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1280160"/>
                <a:gridCol w="502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/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Logins and roles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departments, semesters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dept, semester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rooms, room_templates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× columns layout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teachers, invigilator_assignments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Invigilators and room duty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dept, exam, room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 (+ 2 link tables)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sessions and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PK, FK exam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per student per exam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exam, student, room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FR-05–08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b-card"/>
          <p:cNvSpPr/>
          <p:nvPr/>
        </p:nvSpPr>
        <p:spPr>
          <a:xfrm>
            <a:off x="4297680" y="379476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E1F4F1"/>
          </a:solidFill>
          <a:ln w="12700">
            <a:solidFill>
              <a:srgbClr val="E1F4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43484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443484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smart_exam_seating</a:t>
            </a:r>
            <a:endParaRPr lang="en-US" sz="1100" dirty="0"/>
          </a:p>
        </p:txBody>
      </p:sp>
      <p:sp>
        <p:nvSpPr>
          <p:cNvPr id="10" name="constraint-card"/>
          <p:cNvSpPr/>
          <p:nvPr/>
        </p:nvSpPr>
        <p:spPr>
          <a:xfrm>
            <a:off x="6537960" y="379476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67512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4050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(exam, student) and (exam, room, row, column); CHECK capacity = rows × columns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SWING UI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navigation and interface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 supports a defined use case with validation and user feedback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MAP</a:t>
            </a:r>
            <a:endParaRPr lang="en-US" sz="900" dirty="0"/>
          </a:p>
        </p:txBody>
      </p:sp>
      <p:pic>
        <p:nvPicPr>
          <p:cNvPr id="6" name="Image 0" descr="/home/claude/work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4572000" cy="1891894"/>
          </a:xfrm>
          <a:prstGeom prst="rect">
            <a:avLst/>
          </a:prstGeom>
        </p:spPr>
      </p:pic>
      <p:sp>
        <p:nvSpPr>
          <p:cNvPr id="7" name="fb-1"/>
          <p:cNvSpPr/>
          <p:nvPr/>
        </p:nvSpPr>
        <p:spPr>
          <a:xfrm>
            <a:off x="457200" y="352044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" y="35661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3794760"/>
            <a:ext cx="978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 names the field, e.g. “Register number is required.”</a:t>
            </a:r>
            <a:endParaRPr lang="en-US" sz="950" dirty="0"/>
          </a:p>
        </p:txBody>
      </p:sp>
      <p:sp>
        <p:nvSpPr>
          <p:cNvPr id="10" name="fb-2"/>
          <p:cNvSpPr/>
          <p:nvPr/>
        </p:nvSpPr>
        <p:spPr>
          <a:xfrm>
            <a:off x="1618488" y="352044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91640" y="35661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3794760"/>
            <a:ext cx="978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and regenerate ask first</a:t>
            </a:r>
            <a:endParaRPr lang="en-US" sz="950" dirty="0"/>
          </a:p>
        </p:txBody>
      </p:sp>
      <p:sp>
        <p:nvSpPr>
          <p:cNvPr id="13" name="fb-3"/>
          <p:cNvSpPr/>
          <p:nvPr/>
        </p:nvSpPr>
        <p:spPr>
          <a:xfrm>
            <a:off x="2779776" y="352044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2928" y="35661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852928" y="3794760"/>
            <a:ext cx="978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no match shows “not found”</a:t>
            </a:r>
            <a:endParaRPr lang="en-US" sz="950" dirty="0"/>
          </a:p>
        </p:txBody>
      </p:sp>
      <p:sp>
        <p:nvSpPr>
          <p:cNvPr id="16" name="fb-4"/>
          <p:cNvSpPr/>
          <p:nvPr/>
        </p:nvSpPr>
        <p:spPr>
          <a:xfrm>
            <a:off x="3941064" y="352044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14216" y="35661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014216" y="3794760"/>
            <a:ext cx="978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accounts: Add/Update/Delete disabled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1261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UI-03 STUDENT SCREEN (FR-03)</a:t>
            </a:r>
            <a:endParaRPr lang="en-US" sz="900" dirty="0"/>
          </a:p>
        </p:txBody>
      </p:sp>
      <p:pic>
        <p:nvPicPr>
          <p:cNvPr id="20" name="Image 1" descr="/home/claude/work/media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81328"/>
            <a:ext cx="3474720" cy="2035454"/>
          </a:xfrm>
          <a:prstGeom prst="rect">
            <a:avLst/>
          </a:prstGeom>
        </p:spPr>
      </p:pic>
      <p:sp>
        <p:nvSpPr>
          <p:cNvPr id="21" name="review-card"/>
          <p:cNvSpPr/>
          <p:nvPr/>
        </p:nvSpPr>
        <p:spPr>
          <a:xfrm>
            <a:off x="5212080" y="3639312"/>
            <a:ext cx="3474720" cy="1024128"/>
          </a:xfrm>
          <a:prstGeom prst="roundRect">
            <a:avLst>
              <a:gd name="adj" fmla="val 7143"/>
            </a:avLst>
          </a:prstGeom>
          <a:solidFill>
            <a:srgbClr val="0B2036"/>
          </a:solidFill>
          <a:ln w="12700">
            <a:solidFill>
              <a:srgbClr val="0B203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349240" y="3694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REVIEW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349240" y="389534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screen: actor, use case, inputs (JTextField, JComboBox), actions, JTable results, error/confirm dialogs, FR IDs. One JFrame per function.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INTERACTION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UC-05 Generate seating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 workflow travels from Swing to MySQL in a single transaction</a:t>
            </a:r>
            <a:endParaRPr lang="en-US" sz="1200" dirty="0"/>
          </a:p>
        </p:txBody>
      </p:sp>
      <p:pic>
        <p:nvPicPr>
          <p:cNvPr id="5" name="Image 0" descr="/home/claude/work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3314700"/>
          </a:xfrm>
          <a:prstGeom prst="rect">
            <a:avLst/>
          </a:prstGeom>
        </p:spPr>
      </p:pic>
      <p:sp>
        <p:nvSpPr>
          <p:cNvPr id="6" name="seq5-step-1"/>
          <p:cNvSpPr/>
          <p:nvPr/>
        </p:nvSpPr>
        <p:spPr>
          <a:xfrm>
            <a:off x="4754880" y="128016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2801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12801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selects exam, shuffle and room mode; clicks Generate</a:t>
            </a:r>
            <a:endParaRPr lang="en-US" sz="1050" dirty="0"/>
          </a:p>
        </p:txBody>
      </p:sp>
      <p:sp>
        <p:nvSpPr>
          <p:cNvPr id="9" name="seq5-step-2"/>
          <p:cNvSpPr/>
          <p:nvPr/>
        </p:nvSpPr>
        <p:spPr>
          <a:xfrm>
            <a:off x="4754880" y="1847088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84708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18470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GenerateSeatingFrame checks for an existing plan and asks to confirm</a:t>
            </a:r>
            <a:endParaRPr lang="en-US" sz="1050" dirty="0"/>
          </a:p>
        </p:txBody>
      </p:sp>
      <p:sp>
        <p:nvSpPr>
          <p:cNvPr id="12" name="seq5-step-3"/>
          <p:cNvSpPr/>
          <p:nvPr/>
        </p:nvSpPr>
        <p:spPr>
          <a:xfrm>
            <a:off x="4754880" y="2414016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41401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241401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ExamService loads matching students and rooms, SeatingGenerator shuffles and assigns</a:t>
            </a:r>
            <a:endParaRPr lang="en-US" sz="1050" dirty="0"/>
          </a:p>
        </p:txBody>
      </p:sp>
      <p:sp>
        <p:nvSpPr>
          <p:cNvPr id="15" name="seq5-step-4"/>
          <p:cNvSpPr/>
          <p:nvPr/>
        </p:nvSpPr>
        <p:spPr>
          <a:xfrm>
            <a:off x="4754880" y="2980944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98094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298094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SeatingDAO.replaceAll() deletes old seats, inserts new ones, commits</a:t>
            </a:r>
            <a:endParaRPr lang="en-US" sz="1050" dirty="0"/>
          </a:p>
        </p:txBody>
      </p:sp>
      <p:sp>
        <p:nvSpPr>
          <p:cNvPr id="18" name="seq5-step-5"/>
          <p:cNvSpPr/>
          <p:nvPr/>
        </p:nvSpPr>
        <p:spPr>
          <a:xfrm>
            <a:off x="4754880" y="354787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E1F4F1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5478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35478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 opens with room charts</a:t>
            </a:r>
            <a:endParaRPr lang="en-US" sz="1050" dirty="0"/>
          </a:p>
        </p:txBody>
      </p:sp>
      <p:sp>
        <p:nvSpPr>
          <p:cNvPr id="21" name="seq5-note"/>
          <p:cNvSpPr/>
          <p:nvPr/>
        </p:nvSpPr>
        <p:spPr>
          <a:xfrm>
            <a:off x="4754880" y="41605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SQL error the transaction is rolled back and a message dialog is shown.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INTERACTION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UC-07 Search seat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lookup by register number, with validation and a not-found state</a:t>
            </a:r>
            <a:endParaRPr lang="en-US" sz="1200" dirty="0"/>
          </a:p>
        </p:txBody>
      </p:sp>
      <p:pic>
        <p:nvPicPr>
          <p:cNvPr id="5" name="Image 0" descr="/home/claude/work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937760" cy="3016606"/>
          </a:xfrm>
          <a:prstGeom prst="rect">
            <a:avLst/>
          </a:prstGeom>
        </p:spPr>
      </p:pic>
      <p:sp>
        <p:nvSpPr>
          <p:cNvPr id="6" name="seq7-step-1"/>
          <p:cNvSpPr/>
          <p:nvPr/>
        </p:nvSpPr>
        <p:spPr>
          <a:xfrm>
            <a:off x="5623560" y="132588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325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register number and clicks Search</a:t>
            </a:r>
            <a:endParaRPr lang="en-US" sz="1050" dirty="0"/>
          </a:p>
        </p:txBody>
      </p:sp>
      <p:sp>
        <p:nvSpPr>
          <p:cNvPr id="9" name="seq7-step-2"/>
          <p:cNvSpPr/>
          <p:nvPr/>
        </p:nvSpPr>
        <p:spPr>
          <a:xfrm>
            <a:off x="5623560" y="196596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0" y="1965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StudentSeatSearchFrame validates input (not empty)</a:t>
            </a:r>
            <a:endParaRPr lang="en-US" sz="1050" dirty="0"/>
          </a:p>
        </p:txBody>
      </p:sp>
      <p:sp>
        <p:nvSpPr>
          <p:cNvPr id="12" name="seq7-step-3"/>
          <p:cNvSpPr/>
          <p:nvPr/>
        </p:nvSpPr>
        <p:spPr>
          <a:xfrm>
            <a:off x="5623560" y="26060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F3F6F9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15000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SeatingDAO.findByStudent() runs a JOIN query via PreparedStatement</a:t>
            </a:r>
            <a:endParaRPr lang="en-US" sz="1050" dirty="0"/>
          </a:p>
        </p:txBody>
      </p:sp>
      <p:sp>
        <p:nvSpPr>
          <p:cNvPr id="15" name="seq7-step-4"/>
          <p:cNvSpPr/>
          <p:nvPr/>
        </p:nvSpPr>
        <p:spPr>
          <a:xfrm>
            <a:off x="5623560" y="324612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E1F4F1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15000" y="3246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3246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row and seat are shown, or a “not found” message</a:t>
            </a:r>
            <a:endParaRPr lang="en-US" sz="1050" dirty="0"/>
          </a:p>
        </p:txBody>
      </p:sp>
      <p:sp>
        <p:nvSpPr>
          <p:cNvPr id="18" name="seq7-note"/>
          <p:cNvSpPr/>
          <p:nvPr/>
        </p:nvSpPr>
        <p:spPr>
          <a:xfrm>
            <a:off x="5623560" y="393192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3931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is changed. Result can be printed (FR-07, FR-08).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INTERACTION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failure handling and data integrity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 input and failures are caught without losing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FOR UC-05</a:t>
            </a:r>
            <a:endParaRPr lang="en-US" sz="900" dirty="0"/>
          </a:p>
        </p:txBody>
      </p:sp>
      <p:sp>
        <p:nvSpPr>
          <p:cNvPr id="6" name="step-1"/>
          <p:cNvSpPr/>
          <p:nvPr/>
        </p:nvSpPr>
        <p:spPr>
          <a:xfrm>
            <a:off x="457200" y="1508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Actor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8288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exam, shuffle; Generate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901952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tep-2"/>
          <p:cNvSpPr/>
          <p:nvPr/>
        </p:nvSpPr>
        <p:spPr>
          <a:xfrm>
            <a:off x="2139696" y="1508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Swing UI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18288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GenerateSeatingFrame event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tep-3"/>
          <p:cNvSpPr/>
          <p:nvPr/>
        </p:nvSpPr>
        <p:spPr>
          <a:xfrm>
            <a:off x="3822192" y="1508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5344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Service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18288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ExamService validates, shuffles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tep-4"/>
          <p:cNvSpPr/>
          <p:nvPr/>
        </p:nvSpPr>
        <p:spPr>
          <a:xfrm>
            <a:off x="5504688" y="1508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DAO + JDBC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8288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SeatingDAO prepared SQL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tep-5"/>
          <p:cNvSpPr/>
          <p:nvPr/>
        </p:nvSpPr>
        <p:spPr>
          <a:xfrm>
            <a:off x="7187184" y="1508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1F4F1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0336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Database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60336" y="18288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commit / result</a:t>
            </a:r>
            <a:endParaRPr lang="en-US" sz="950" dirty="0"/>
          </a:p>
        </p:txBody>
      </p:sp>
      <p:sp>
        <p:nvSpPr>
          <p:cNvPr id="25" name="col-1"/>
          <p:cNvSpPr/>
          <p:nvPr/>
        </p:nvSpPr>
        <p:spPr>
          <a:xfrm>
            <a:off x="457200" y="25603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6700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B"/>
          </a:solidFill>
          <a:ln w="12700">
            <a:solidFill>
              <a:srgbClr val="E4EA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017520"/>
            <a:ext cx="239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text not empty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columns, duration: positive whole numbers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yyyy-MM-dd, time HH:mm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≥ students (service)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register / room number (DB)</a:t>
            </a:r>
            <a:endParaRPr lang="en-US" sz="1000" dirty="0"/>
          </a:p>
        </p:txBody>
      </p:sp>
      <p:sp>
        <p:nvSpPr>
          <p:cNvPr id="29" name="col-2"/>
          <p:cNvSpPr/>
          <p:nvPr/>
        </p:nvSpPr>
        <p:spPr>
          <a:xfrm>
            <a:off x="3246120" y="25603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6700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3017520"/>
            <a:ext cx="239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input: dialog, data kept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down: “Database connection failed”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failure: rollback, resources closed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error: generic dialog, no crash</a:t>
            </a:r>
            <a:endParaRPr lang="en-US" sz="1000" dirty="0"/>
          </a:p>
        </p:txBody>
      </p:sp>
      <p:sp>
        <p:nvSpPr>
          <p:cNvPr id="33" name="col-3"/>
          <p:cNvSpPr/>
          <p:nvPr/>
        </p:nvSpPr>
        <p:spPr>
          <a:xfrm>
            <a:off x="6035040" y="25603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26700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DF3E8"/>
          </a:solidFill>
          <a:ln w="12700">
            <a:solidFill>
              <a:srgbClr val="DDF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220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017520"/>
            <a:ext cx="2395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UNIQUE, CHECK in schema.sql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double-booked seat or student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for all values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credentials from environment variables</a:t>
            </a:r>
            <a:endParaRPr lang="en-US" sz="1000" dirty="0"/>
          </a:p>
        </p:txBody>
      </p:sp>
      <p:sp>
        <p:nvSpPr>
          <p:cNvPr id="37" name="limit-note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4360" y="4297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 (DC-05): passwords are stored as plain text; SHA-256 hashing is planned.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E9F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traceability and readiness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complete enough to begin Code Review 1 implementation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3200400"/>
                <a:gridCol w="640080"/>
                <a:gridCol w="2194560"/>
                <a:gridCol w="914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LoginFrame, UserDAO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TC-01, 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RoomFrame, RoomDAO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rooms, room_templates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TC-03, 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StudentFrame, StudentDAO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TC-05, 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ExamFrame, ExamDAO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exams, invigilator_assignments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ExamService, SeatingGenerator, ShuffleService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TC-08–10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SeatingResultFrame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StudentSeatSearchFrame, SeatingDAO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TC-12, 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B5B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AttendanceFrame, ReportsFrame, PrintService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TC-14, 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ready-card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5324F"/>
          </a:solidFill>
          <a:ln w="9525">
            <a:solidFill>
              <a:srgbClr val="2A4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READINESS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89534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Antony: seat allocation, exams, final review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Lijo: login, users, students, DB setup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Milind: rooms, search, reports, test data</a:t>
            </a:r>
            <a:endParaRPr lang="en-US" sz="1050" dirty="0"/>
          </a:p>
        </p:txBody>
      </p:sp>
      <p:sp>
        <p:nvSpPr>
          <p:cNvPr id="9" name="decision-card"/>
          <p:cNvSpPr/>
          <p:nvPr/>
        </p:nvSpPr>
        <p:spPr>
          <a:xfrm>
            <a:off x="4617720" y="361188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3675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Revise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4315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to mark</a:t>
            </a:r>
            <a:endParaRPr lang="en-US" sz="950" dirty="0"/>
          </a:p>
        </p:txBody>
      </p:sp>
      <p:sp>
        <p:nvSpPr>
          <p:cNvPr id="13" name="next-card"/>
          <p:cNvSpPr/>
          <p:nvPr/>
        </p:nvSpPr>
        <p:spPr>
          <a:xfrm>
            <a:off x="6583680" y="36118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0E9F98"/>
          </a:solidFill>
          <a:ln w="12700">
            <a:solidFill>
              <a:srgbClr val="0E9F9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8953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42062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Java + OOP, coding standards. Carry forward the HackerRank table.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D6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Presentation - Exam Seat Arrangement System</dc:title>
  <dc:subject>PptxGenJS Presentation</dc:subject>
  <dc:creator>Team 8</dc:creator>
  <cp:lastModifiedBy>Team 8</cp:lastModifiedBy>
  <cp:revision>1</cp:revision>
  <dcterms:created xsi:type="dcterms:W3CDTF">2026-10-30T13:54:33Z</dcterms:created>
  <dcterms:modified xsi:type="dcterms:W3CDTF">2026-10-30T13:54:33Z</dcterms:modified>
</cp:coreProperties>
</file>